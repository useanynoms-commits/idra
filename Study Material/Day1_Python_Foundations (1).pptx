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&amp; TRAINING PROGRAM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 Foundations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 •  Variables  •  Data Types  •  I/O  •  Operators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|  India Data Research Academy  |  Department of Data Science and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544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463040" y="152704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63040" y="189280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workflow &amp; grading expectations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78728" y="141732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1608" y="15544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284568" y="152704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284568" y="189280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VS Code &amp; Google Colab, troubleshooting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463040" y="276148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Memory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463040" y="31272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dynamic typing, id() and references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78728" y="265176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1608" y="2788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284568" y="276148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Conversion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284568" y="31272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+ type casting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88620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023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463040" y="399592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463040" y="436168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input(), print(), f-strings, formatting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78728" y="388620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61608" y="4023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7284568" y="399592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Depth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284568" y="436168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logical, assignment, membership, identity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120640"/>
            <a:ext cx="5455768" cy="1051560"/>
          </a:xfrm>
          <a:prstGeom prst="roundRect">
            <a:avLst>
              <a:gd name="adj" fmla="val 6957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257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1463040" y="523036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146304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Calculator Program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Structure: 4 + 2 Week Roadmap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duration: 6 weeks  •  Mode: Practical + Assignment-Based Learning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Foundations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88920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90088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90088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81528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&amp; Pandas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21808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522976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3E7CA6"/>
          </a:solidFill>
          <a:ln w="12700">
            <a:solidFill>
              <a:srgbClr val="3E7C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2976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14416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Visualization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54696" y="25146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055864" y="2148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55864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47304" y="2651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&amp; ML Foundations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" y="3840480"/>
            <a:ext cx="9930384" cy="868680"/>
          </a:xfrm>
          <a:prstGeom prst="roundRect">
            <a:avLst>
              <a:gd name="adj" fmla="val 8421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840480"/>
            <a:ext cx="9381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Project Phase — 2 Weeks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Hands-on capstone project, GitHub portfolio, final presentation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= Week 1, Day 1 of 20 training days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Workflow, Version Control &amp; Grading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Practices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Git &amp; GitHub from Day 1 onward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deliverable submitted via a dedicated repository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commit messages and folder structure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deliverable due before next session begins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submissions logged under participation criteria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212080" cy="237744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Assignments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&amp; Engagement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Portfolio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92240" y="1737360"/>
            <a:ext cx="521208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294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6926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4297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combines continuous evaluation with a final capstone assessment.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Environments You'll Use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3.x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31520" y="31089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interpreter installation, PATH configuration, verifying via terminal.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262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526280" y="31089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editor with Python &amp; Jupyter extensions and interpreter selection.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32104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21040" y="310896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Zero-install, cloud-based notebooks with free compute and Drive integration.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Python 3.x &amp; Setting PATH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latest Python 3.x installer from python.org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check “Add python.exe to PATH” during install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macOS/Linux: verify pyenv or system Python 3 version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tells the OS where to find the python executable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terminal/IDE after installation for PATH changes to apply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installation in a terminal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--version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3.12.4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pip --version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24.0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 the interactive REPL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print("Environment ready!")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ready!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89204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89204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“python” is not recognized, reinstall with the PATH checkbox enabled or add the install directory to your system PATH manually.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VS Code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7556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install Visual Studio Code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31343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286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Extensions panel (Ctrl+Shift+X)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843784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2816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official “Python” extension (Microsoft)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374136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33467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“Jupyter” extension for notebook support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90448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3877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Command Palette → “Python: Select Interpreter”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43484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60120" y="44074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Python 3.x interpreter you installed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09360" y="137160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09360" y="137160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0" y="157276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46520" y="146304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47688" y="146304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48856" y="146304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32320" y="1371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Terminal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537960" y="1737360"/>
            <a:ext cx="493776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Sanity-check inside VS Code's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integrated terminal (View &gt; Terminal)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--version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3.12.4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and run a test file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'print("Hello, IDRA!")' &gt; test.py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test.py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IDRA!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309360" y="49834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interpreter version in the bottom-right status bar to confirm VS Code is using the correct Python.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Google Colab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colab.research.google.com and sign in with a Google account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“New Notebook” — runs entirely in the browser, no local install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menu: choose CPU / GPU / TPU compute type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has session time limits and periodic disconnects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Google Drive to persist files and datasets across sessions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colab_notebook.ipynb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a Colab notebook cell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google.colab import drive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drive.mount('/content/drive')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Files now accessible under: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/content/drive/MyDrive/...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print(sys.version)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89204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89204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is ideal for quick experiments and GPU-heavy tasks later in the course; VS Code remains the primary environment for daily deliverables.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Troubleshooting Guide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928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3794760"/>
                <a:gridCol w="4206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“'python' is not recognized”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not configured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Reinstall with “Add to PATH” checked, restart terminal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ModuleNotFoundError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interpreter/venv 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correct interpreter in VS Code; pip install the package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kernel won't 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extension/kernel missing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Jupyter extension; run: python -m pip install ipykernel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 session disconnects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idle/time limit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Reconnect, save frequently, mount Drive for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denied on install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privileges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--user flag or a virtual environment (venv)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463040"/>
            <a:ext cx="112928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88620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680960" y="1463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Memory Mechanics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snake_case: student_name, total_marks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letter or underscore; case-sensitive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variable's type is inferred at runtime, not declared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name can be reassigned to a different type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Referencing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labels pointing to objects in memory</a:t>
            </a:r>
            <a:endParaRPr lang="en-US" sz="13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id() reveals the memory address of the referenced object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Dynamic typing in action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          # int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"twenty-five"  # now a str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snake_case naming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total_marks = 87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student_name = "Aarav"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assignment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y, z = 1, 2, 3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References with id()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92840" cy="3246120"/>
          </a:xfrm>
          <a:prstGeom prst="roundRect">
            <a:avLst>
              <a:gd name="adj" fmla="val 2254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9284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9284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1083564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    # b now references the same object as 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print(id(a), id(b))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140719937981152 140719937981152   (identical)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20             # b now points to a NEW object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print(id(a), id(b))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140719937981152 140719937981472   (different)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    # False -&gt; different objects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b)      # False -&gt; different values too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89204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89204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(=) never copies data — it binds a name to an object. Reassigning a variable just points the label somewhere new; it never mutates the original object.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Types in Python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9284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623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= 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numbers, positive or negative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19.99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with a decimal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= "Data"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characters, immutable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is_valid =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True / False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463040"/>
            <a:ext cx="112928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60604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63640" y="1463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709160"/>
            <a:ext cx="10835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type:  </a:t>
            </a:r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type(age)  </a:t>
            </a:r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</a:t>
            </a:r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value in Python has a type, and types drive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Checking with type()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type(obj) returns the class of any object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debugging and validating user input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isinstance() for flexible type checks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are technically a subtype of int in 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42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3.14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"hello"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= True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print(type(x))     # &lt;class 'int'&gt;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print(type(y))     # &lt;class 'float'&gt;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print(type(z))     # &lt;class 'str'&gt;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print(type(flag))  # &lt;class 'bool'&gt;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print(isinstance(flag, int))  # True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89204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89204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and False behave like 1 and 0 in arithmetic — True + True evaluates to 2.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(Casting)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92840" cy="3657600"/>
          </a:xfrm>
          <a:prstGeom prst="roundRect">
            <a:avLst>
              <a:gd name="adj" fmla="val 2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9284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9284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108356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Explicit conversions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int("42")        # 42            (str -&gt; int)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float("3.14")    # 3.14          (str -&gt; float)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str(99)          # "99"          (int -&gt; str)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bool(0)          # False         (0 is falsy)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bool("")         # False         (empty string is falsy)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bool("no")       # True          (non-empty string is truthy)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Common pitfall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int("3.5")       # ValueError: invalid literal for int()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int(float("3.5")) # 3   -&gt; convert to float first, then int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525780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25780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or wrap conversions in try/except when the value originates from user input — Day 4 covers this formally.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Input with input()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input(prompt) pauses execution and waits for the user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value is ALWAYS a string — regardless of what is typed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explicitly when numeric input is required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validation for defensive programming (covered Day 4)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input_demo.py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print(f"Hello, {name}!")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Raw input is always text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age_text = input("Enter your age: 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print(type(age_text))   # &lt;class 'str'&gt;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explicitly for math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int(age_text)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5029200"/>
            <a:ext cx="11292840" cy="868680"/>
          </a:xfrm>
          <a:prstGeom prst="roundRect">
            <a:avLst>
              <a:gd name="adj" fmla="val 8421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5029200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"25" + 1  raises a TypeError — a string and an int cannot be added directly. Convert first with int("25") + 1.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Formatted Output with print()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92840" cy="4114800"/>
          </a:xfrm>
          <a:prstGeom prst="roundRect">
            <a:avLst>
              <a:gd name="adj" fmla="val 1778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9284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9284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1083564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print("Data", "Science", "Academy")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Science Academy               (default sep=' ')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print("Data", "Science", "Academy", sep="-")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Data-Science-Academy                (custom separator)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print("Loading", end="...")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print("Done")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Loading...Done                      (end replaces the newline)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print("Score:", 95, sep=": ", end="\n\n")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Score:: 95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               (blank line follows)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f-strings &amp; Format Specifiers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92840" cy="4206240"/>
          </a:xfrm>
          <a:prstGeom prst="roundRect">
            <a:avLst>
              <a:gd name="adj" fmla="val 1739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9284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9284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10835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"Priya"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92.4567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100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print(f"Student: {name}")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Student: Priya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print(f"Score: {score:.2f} / {total}")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Score: 92.46 / 100                 ( :.2f -&gt; 2 decimal places 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print(f"Percentage: {score/total:.1%}")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Percentage: 92.5%                  ( :.1% -&gt; percentage format 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print(f"{name:&gt;10}")   # right-align within 10 characters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743200"/>
                <a:gridCol w="2697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Meaning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Addition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+ 3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Subtraction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7 - 3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Multiplication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*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 Division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/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2.333...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Floor Division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//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Modulus (remainder)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7 %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Exponent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** 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343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417320"/>
            <a:ext cx="112928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606040" y="1417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4652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18972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Logical Operators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 equal 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  not equal 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  greater than      &lt;   less than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  greater or equal  &lt;=  less or equal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56616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76732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365760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" y="365760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96696" y="365760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3931920"/>
            <a:ext cx="4937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== 5)   # True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!= 3)   # True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09360" y="17373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True only if BOTH operands are True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  True if AT LEAST ONE operand is True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 Inverts a boolean value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09360" y="35661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09360" y="356616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09360" y="376732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365760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47688" y="365760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48856" y="365760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37960" y="3931920"/>
            <a:ext cx="4937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&gt; 18 and age &lt; 60)  # True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 (age == 20))        # False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21208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521208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evaluation:  </a:t>
            </a:r>
            <a:pPr indent="0" marL="0">
              <a:buNone/>
            </a:pPr>
            <a:r>
              <a:rPr lang="en-US" sz="125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“A and B”, B is skipped if A is False; in “A or B”, B is skipped if A is True.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Operators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434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Equivalent 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 (x = 10)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+=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+ 5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-=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- 5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*=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*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/=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/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5.0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//=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//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%=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%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**=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x **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becomes 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417320"/>
            <a:ext cx="112928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417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37560" y="14173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(x = 10)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&amp; Identity Operators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in / not 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73736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3852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82880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5528" y="182880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182880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2103120"/>
            <a:ext cx="49377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"mango", "kiwi"]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print("mango" in fruits)      # True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print("grape" not in fruits)  # True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0936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is / is not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73736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93852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182880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47688" y="182880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0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37960" y="2103120"/>
            <a:ext cx="49377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[1, 2, 3]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 # True  (same object)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c)   # False (equal, not same)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c)   # True  (values match)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11292840" cy="1463040"/>
          </a:xfrm>
          <a:prstGeom prst="roundRect">
            <a:avLst>
              <a:gd name="adj" fmla="val 5000"/>
            </a:avLst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206240"/>
            <a:ext cx="10744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vs is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compares VALUES for equality.  is  compares IDENTITY — whether two names point to the exact same object in memory. Use == for value checks; reserve is for singleton comparisons like  x is None.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Precedence &amp; Evaluation Order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higher-precedence operators first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() always override default precedence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(high → low): ** → * / // % → + - → comparisons → not → and → or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add parentheses for clarity — readability counts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2 + 3 * 4          # 14, not 20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(2 + 3) * 4        # 20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10 - 2 ** 2         # 6  (** before -)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(10 - 2) ** 2       # 64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= 5 &gt; 3 and 2 &lt; 4     # True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= not 5 &gt; 3           # False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Ternary operator (conditional expression)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"Pass" if 75 &gt;= 40 else "Fail"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print(status)               # Pass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Deliverable: Calculator Program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command-line calculator that ties today's concepts together.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1129284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651760" y="196596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two numbers and an operator from the user via input()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11292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651760" y="265176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numeric strings to float using type conversion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1129284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651760" y="333756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+, -, *, /, //, %, ** using arithmetic operators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11292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651760" y="402336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continuously until the user chooses to exit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709160"/>
            <a:ext cx="1129284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4709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2651760" y="470916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manage invalid operators or division by zero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Calculator: Structure &amp; Input Handling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9284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9284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9284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1083564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get_numbers():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"""Prompt the user and return two floats."""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num1 = float(input("Enter the first number: "))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num2 = float(input("Enter the second number: "))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num1, num2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get_operator():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"""Prompt for a supported operator symbol."""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print("Operators: +  -  *  /  //  %  **")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input("Choose an operator: ").strip()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Calculator: Core Operation Logic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129284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1129284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1129284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1083564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calculate(num1, num2, operator):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operator == "+":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num1 + num2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operator == "-":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num1 - num2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operator == "*":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num1 * num2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operator == "/":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num2 == 0: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ZeroDivisionError("Cannot divide by zero")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num1 / num2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ValueError(f"Unsupported operator: {operator}")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Calculator: Main Loop &amp; Sample Run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17320"/>
            <a:ext cx="548640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18488"/>
            <a:ext cx="54864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1417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1783080"/>
            <a:ext cx="502920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print("=== Simple Calculator ===")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n1, n2 = get_numbers()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 = get_operator()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calculate(n1, n2, op)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print(f"Result: {result}")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(ValueError,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ZeroDivisionError) as e: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print(f"Error: {e}")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again = input("Continue? (y/n): ")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again.lower() != "y":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print("Goodbye!")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main()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571500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0" y="1417320"/>
            <a:ext cx="548640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15000" y="1618488"/>
            <a:ext cx="548640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5332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449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1417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run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43600" y="1783080"/>
            <a:ext cx="502920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Simple Calculator ===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the first number: 12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the second number: 4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Operators: +  -  *  /  //  %  **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an operator: /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3.0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Continue? (y/n): y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the first number: 9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the second number: 0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Operators: +  -  *  /  //  %  **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an operator: /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Cannot divide by zero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Continue? (y/n): n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</a:t>
            </a:r>
            <a:endParaRPr lang="en-US" sz="11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Day 1 Errors &amp; Fixes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92840" cy="4114800"/>
        </p:xfrm>
        <a:graphic>
          <a:graphicData uri="http://schemas.openxmlformats.org/drawingml/2006/table">
            <a:tbl>
              <a:tblPr/>
              <a:tblGrid>
                <a:gridCol w="2468880"/>
                <a:gridCol w="4709160"/>
                <a:gridCol w="4114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Mixing str and int (e.g. "5" + 5)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with int()/str() before the 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int("abc") or int("3.5")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input; convert via float() first if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ZeroDivisionError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Dividing by a variable that equals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divisor before dividing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 variable before assigning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variable first; check for typos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spaces/tabs in blocks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4 spaces consistently (configure your editor)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463040"/>
            <a:ext cx="112928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463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06324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Cause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0" y="1463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Clean Code from Day 1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Style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snake_case for variables and functions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spaces per indentation level, no tabs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per line; limit line length (~79-99 chars)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docstrings ("""...""") to explain functions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comments (#) sparingly, for the “why” not the “what”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17320"/>
            <a:ext cx="5394960" cy="292608"/>
          </a:xfrm>
          <a:prstGeom prst="roundRect">
            <a:avLst>
              <a:gd name="adj" fmla="val 25000"/>
            </a:avLst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18488"/>
            <a:ext cx="5394960" cy="91440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E5675C"/>
          </a:solidFill>
          <a:ln w="12700">
            <a:solidFill>
              <a:srgbClr val="E567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7688" y="1508760"/>
            <a:ext cx="109728" cy="109728"/>
          </a:xfrm>
          <a:prstGeom prst="ellipse">
            <a:avLst/>
          </a:prstGeom>
          <a:solidFill>
            <a:srgbClr val="E5C158"/>
          </a:solidFill>
          <a:ln w="12700">
            <a:solidFill>
              <a:srgbClr val="E5C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8856" y="1508760"/>
            <a:ext cx="109728" cy="10972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783080"/>
            <a:ext cx="493776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calculate_average(scores):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mean of a list of scores."""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scores: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sum(scores) / len(scores)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Good: descriptive name, docstring, guard clause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calculate_average([88, 92, 79])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print(avg)   # 86.33333333333333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Key Takeaways</a:t>
            </a:r>
            <a:endParaRPr lang="en-US" sz="30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581400" cy="1874520"/>
          </a:xfrm>
          <a:prstGeom prst="roundRect">
            <a:avLst>
              <a:gd name="adj" fmla="val 4878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719072"/>
            <a:ext cx="457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874520"/>
            <a:ext cx="306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286000"/>
            <a:ext cx="306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VS Code &amp; Colab are all configured and verified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2920" y="1463040"/>
            <a:ext cx="3581400" cy="1874520"/>
          </a:xfrm>
          <a:prstGeom prst="roundRect">
            <a:avLst>
              <a:gd name="adj" fmla="val 4878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8952" y="1719072"/>
            <a:ext cx="457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1874520"/>
            <a:ext cx="306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68952" y="2286000"/>
            <a:ext cx="306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typing; assignment binds names to objects, not copies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68640" y="1463040"/>
            <a:ext cx="3581400" cy="1874520"/>
          </a:xfrm>
          <a:prstGeom prst="roundRect">
            <a:avLst>
              <a:gd name="adj" fmla="val 4878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24672" y="1719072"/>
            <a:ext cx="457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4672" y="1874520"/>
            <a:ext cx="306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24672" y="2286000"/>
            <a:ext cx="306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— checked with type(), converted explicitly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3581400" cy="1874520"/>
          </a:xfrm>
          <a:prstGeom prst="roundRect">
            <a:avLst>
              <a:gd name="adj" fmla="val 4878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3822192"/>
            <a:ext cx="457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977640"/>
            <a:ext cx="306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I/O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3232" y="4389120"/>
            <a:ext cx="306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str; print() and f-strings control output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12920" y="3566160"/>
            <a:ext cx="3581400" cy="1874520"/>
          </a:xfrm>
          <a:prstGeom prst="roundRect">
            <a:avLst>
              <a:gd name="adj" fmla="val 4878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68952" y="3822192"/>
            <a:ext cx="457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68952" y="3977640"/>
            <a:ext cx="306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68952" y="4389120"/>
            <a:ext cx="306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logical, assignment, membership, identity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68640" y="3566160"/>
            <a:ext cx="3581400" cy="1874520"/>
          </a:xfrm>
          <a:prstGeom prst="roundRect">
            <a:avLst>
              <a:gd name="adj" fmla="val 4878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24672" y="3822192"/>
            <a:ext cx="457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24672" y="3977640"/>
            <a:ext cx="306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424672" y="4389120"/>
            <a:ext cx="306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looped calculator with error handling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Day 1: Python Foundations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2: Control Flow &amp; Loops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conditional logic &amp; ternary operators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and for loops, range(), enumerate(), zip()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and the loop-else clause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Number Guessing Game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484632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Research Academy  |  Department of Data Science and AI  |  contact@idra.co.in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2026-07-27T08:56:28Z</dcterms:created>
  <dcterms:modified xsi:type="dcterms:W3CDTF">2026-07-27T08:56:28Z</dcterms:modified>
</cp:coreProperties>
</file>